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5" r:id="rId6"/>
    <p:sldId id="266" r:id="rId7"/>
    <p:sldId id="270" r:id="rId8"/>
    <p:sldId id="268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AE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"/>
          <p:cNvSpPr/>
          <p:nvPr/>
        </p:nvSpPr>
        <p:spPr>
          <a:xfrm>
            <a:off x="457200" y="731520"/>
            <a:ext cx="9144000" cy="12700"/>
          </a:xfrm>
          <a:prstGeom prst="rect">
            <a:avLst/>
          </a:prstGeom>
          <a:solidFill>
            <a:srgbClr val="B8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1371600"/>
            <a:ext cx="10972800" cy="32004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600" b="1" i="0" dirty="0">
                <a:solidFill>
                  <a:srgbClr val="FFFFFF"/>
                </a:solidFill>
                <a:latin typeface="Calibri"/>
              </a:rPr>
              <a:t>Development Stages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3600" b="1" i="0" dirty="0">
                <a:solidFill>
                  <a:srgbClr val="FFFFFF"/>
                </a:solidFill>
                <a:latin typeface="Calibri"/>
              </a:rPr>
              <a:t>of an LMS Adaptive Filter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3600" b="1" i="0" dirty="0">
                <a:solidFill>
                  <a:srgbClr val="B8922A"/>
                </a:solidFill>
                <a:latin typeface="Calibri"/>
              </a:rPr>
              <a:t>on FPGA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200" b="0" i="0" dirty="0">
                <a:solidFill>
                  <a:srgbClr val="C8B89A"/>
                </a:solidFill>
                <a:latin typeface="Calibri Light"/>
              </a:rPr>
              <a:t>Graduation Project  ·  Digital IC  ·  Beamforming  ·  FPGA Algorithms</a:t>
            </a:r>
          </a:p>
        </p:txBody>
      </p:sp>
      <p:sp>
        <p:nvSpPr>
          <p:cNvPr id="10" name="TitleImage_box"/>
          <p:cNvSpPr/>
          <p:nvPr/>
        </p:nvSpPr>
        <p:spPr>
          <a:xfrm>
            <a:off x="12344400" y="914400"/>
            <a:ext cx="5486400" cy="8229600"/>
          </a:xfrm>
          <a:prstGeom prst="rect">
            <a:avLst/>
          </a:prstGeom>
          <a:solidFill>
            <a:srgbClr val="F5F0E8"/>
          </a:solidFill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itleImage_label"/>
          <p:cNvSpPr/>
          <p:nvPr/>
        </p:nvSpPr>
        <p:spPr>
          <a:xfrm>
            <a:off x="12344400" y="4754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6B7280"/>
                </a:solidFill>
                <a:latin typeface="Calibri Light"/>
              </a:rPr>
              <a:t>[ Image Placeholder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egory"/>
          <p:cNvSpPr/>
          <p:nvPr/>
        </p:nvSpPr>
        <p:spPr>
          <a:xfrm>
            <a:off x="457200" y="457200"/>
            <a:ext cx="1645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b="1" i="0" dirty="0">
                <a:solidFill>
                  <a:srgbClr val="B8922A"/>
                </a:solidFill>
                <a:latin typeface="Calibri"/>
              </a:rPr>
              <a:t>DESIGN GOALS</a:t>
            </a:r>
          </a:p>
        </p:txBody>
      </p:sp>
      <p:sp>
        <p:nvSpPr>
          <p:cNvPr id="3" name="Rule"/>
          <p:cNvSpPr/>
          <p:nvPr/>
        </p:nvSpPr>
        <p:spPr>
          <a:xfrm>
            <a:off x="457200" y="868680"/>
            <a:ext cx="17373600" cy="127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457200" y="914400"/>
            <a:ext cx="17373600" cy="9144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 i="0" dirty="0">
                <a:solidFill>
                  <a:srgbClr val="1C3557"/>
                </a:solidFill>
                <a:latin typeface="Calibri"/>
              </a:rPr>
              <a:t>Design Goal &amp; Performance Targets</a:t>
            </a:r>
          </a:p>
        </p:txBody>
      </p:sp>
      <p:sp>
        <p:nvSpPr>
          <p:cNvPr id="5" name="ColLeft"/>
          <p:cNvSpPr/>
          <p:nvPr/>
        </p:nvSpPr>
        <p:spPr>
          <a:xfrm>
            <a:off x="457200" y="2103120"/>
            <a:ext cx="8458200" cy="7315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marL="0" indent="0" algn="l">
              <a:spcBef>
                <a:spcPts val="120"/>
              </a:spcBef>
              <a:buNone/>
            </a:pPr>
            <a:r>
              <a:rPr lang="en-US" sz="1300" b="1" i="0" dirty="0">
                <a:solidFill>
                  <a:srgbClr val="B8922A"/>
                </a:solidFill>
                <a:latin typeface="Calibri"/>
              </a:rPr>
              <a:t>Goal</a:t>
            </a:r>
          </a:p>
          <a:p>
            <a:pPr marL="0" indent="0" algn="l">
              <a:spcBef>
                <a:spcPts val="60"/>
              </a:spcBef>
              <a:buNone/>
            </a:pPr>
            <a:r>
              <a:rPr lang="en-US" sz="1100" b="0" i="0" dirty="0">
                <a:solidFill>
                  <a:srgbClr val="1C3557"/>
                </a:solidFill>
                <a:latin typeface="Calibri Light"/>
              </a:rPr>
              <a:t>Real-time 4-tap Standard LMS on Zynq-7020 FPGA for 61.44 MSPS USRP B210.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300" b="1" i="0" dirty="0">
                <a:solidFill>
                  <a:srgbClr val="B8922A"/>
                </a:solidFill>
                <a:latin typeface="Calibri"/>
              </a:rPr>
              <a:t>Algorithm Correctness</a:t>
            </a:r>
          </a:p>
          <a:p>
            <a:pPr marL="0" indent="0" algn="l">
              <a:spcBef>
                <a:spcPts val="60"/>
              </a:spcBef>
              <a:buNone/>
            </a:pPr>
            <a:r>
              <a:rPr lang="en-US" sz="1100" b="0" i="0" dirty="0">
                <a:solidFill>
                  <a:srgbClr val="1C3557"/>
                </a:solidFill>
                <a:latin typeface="Calibri Light"/>
              </a:rPr>
              <a:t>No pipeline-induced delay (D=0); preserves standard LMS w(n+1) = w(n) + μ·e·x.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300" b="1" i="0" dirty="0">
                <a:solidFill>
                  <a:srgbClr val="B8922A"/>
                </a:solidFill>
                <a:latin typeface="Calibri"/>
              </a:rPr>
              <a:t>Clock Target</a:t>
            </a:r>
          </a:p>
          <a:p>
            <a:pPr marL="0" indent="0" algn="l">
              <a:spcBef>
                <a:spcPts val="60"/>
              </a:spcBef>
              <a:buNone/>
            </a:pPr>
            <a:r>
              <a:rPr lang="en-US" sz="1100" b="0" i="0" dirty="0">
                <a:solidFill>
                  <a:srgbClr val="1C3557"/>
                </a:solidFill>
                <a:latin typeface="Calibri Light"/>
              </a:rPr>
              <a:t>≥ 200 MHz post-place-and-route (3× margin); stretch goal ≥ 450 MHz with DSP48E1 hard MAC.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300" b="1" i="0" dirty="0">
                <a:solidFill>
                  <a:srgbClr val="B8922A"/>
                </a:solidFill>
                <a:latin typeface="Calibri"/>
              </a:rPr>
              <a:t>Precision &amp; Accumulator</a:t>
            </a:r>
          </a:p>
          <a:p>
            <a:pPr marL="0" indent="0" algn="l">
              <a:spcBef>
                <a:spcPts val="60"/>
              </a:spcBef>
              <a:buNone/>
            </a:pPr>
            <a:r>
              <a:rPr lang="en-US" sz="1100" b="0" i="0" dirty="0">
                <a:solidFill>
                  <a:srgbClr val="1C3557"/>
                </a:solidFill>
                <a:latin typeface="Calibri Light"/>
              </a:rPr>
              <a:t>Q1.15 fixed-point; 48-bit accumulator per tap; truncation error &lt; 2⁻¹⁷; weights in distributed registers.</a:t>
            </a:r>
          </a:p>
        </p:txBody>
      </p:sp>
      <p:sp>
        <p:nvSpPr>
          <p:cNvPr id="6" name="ColRight"/>
          <p:cNvSpPr/>
          <p:nvPr/>
        </p:nvSpPr>
        <p:spPr>
          <a:xfrm>
            <a:off x="9372600" y="2103120"/>
            <a:ext cx="8458200" cy="7315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marL="0" indent="0" algn="l">
              <a:spcBef>
                <a:spcPts val="120"/>
              </a:spcBef>
              <a:buNone/>
            </a:pPr>
            <a:r>
              <a:rPr lang="en-US" sz="1300" b="1" i="0" dirty="0">
                <a:solidFill>
                  <a:srgbClr val="B8922A"/>
                </a:solidFill>
                <a:latin typeface="Calibri"/>
              </a:rPr>
              <a:t>Interface</a:t>
            </a:r>
          </a:p>
          <a:p>
            <a:pPr marL="0" indent="0" algn="l">
              <a:spcBef>
                <a:spcPts val="60"/>
              </a:spcBef>
              <a:buNone/>
            </a:pPr>
            <a:r>
              <a:rPr lang="en-US" sz="1100" b="0" i="0" dirty="0">
                <a:solidFill>
                  <a:srgbClr val="1C3557"/>
                </a:solidFill>
                <a:latin typeface="Calibri Light"/>
              </a:rPr>
              <a:t>AXI4-Stream slave/master; pipe_en = m_axis_tready only; tlast propagated with 4-cycle latency; fully DMA-compatible.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300" b="1" i="0" dirty="0">
                <a:solidFill>
                  <a:srgbClr val="B8922A"/>
                </a:solidFill>
                <a:latin typeface="Calibri"/>
              </a:rPr>
              <a:t>Resources</a:t>
            </a:r>
          </a:p>
          <a:p>
            <a:pPr marL="0" indent="0" algn="l">
              <a:spcBef>
                <a:spcPts val="60"/>
              </a:spcBef>
              <a:buNone/>
            </a:pPr>
            <a:r>
              <a:rPr lang="en-US" sz="1100" b="0" i="0" dirty="0">
                <a:solidFill>
                  <a:srgbClr val="1C3557"/>
                </a:solidFill>
                <a:latin typeface="Calibri Light"/>
              </a:rPr>
              <a:t>2 DSP48E1 slices per tap (8 total for 4 taps); zero BRAM.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300" b="1" i="0" dirty="0">
                <a:solidFill>
                  <a:srgbClr val="B8922A"/>
                </a:solidFill>
                <a:latin typeface="Calibri"/>
              </a:rPr>
              <a:t>Saturation / Safety</a:t>
            </a:r>
          </a:p>
          <a:p>
            <a:pPr marL="0" indent="0" algn="l">
              <a:spcBef>
                <a:spcPts val="60"/>
              </a:spcBef>
              <a:buNone/>
            </a:pPr>
            <a:r>
              <a:rPr lang="en-US" sz="1100" b="0" i="0" dirty="0">
                <a:solidFill>
                  <a:srgbClr val="1C3557"/>
                </a:solidFill>
                <a:latin typeface="Calibri Light"/>
              </a:rPr>
              <a:t>Hard clamp ±32767 using signed overflow detection; no weight windup under any input.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300" b="1" i="0" dirty="0">
                <a:solidFill>
                  <a:srgbClr val="B8922A"/>
                </a:solidFill>
                <a:latin typeface="Calibri"/>
              </a:rPr>
              <a:t>Verification</a:t>
            </a:r>
          </a:p>
          <a:p>
            <a:pPr marL="0" indent="0" algn="l">
              <a:spcBef>
                <a:spcPts val="60"/>
              </a:spcBef>
              <a:buNone/>
            </a:pPr>
            <a:r>
              <a:rPr lang="en-US" sz="1100" b="0" i="0" dirty="0">
                <a:solidFill>
                  <a:srgbClr val="1C3557"/>
                </a:solidFill>
                <a:latin typeface="Calibri Light"/>
              </a:rPr>
              <a:t>WNS = 0 ns; bit-exact NumPy Q1.15 reference ±1 LSB over 10,000 samples; AXI backpressure deadlock-free.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egory"/>
          <p:cNvSpPr/>
          <p:nvPr/>
        </p:nvSpPr>
        <p:spPr>
          <a:xfrm>
            <a:off x="457200" y="487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b="1" i="0" dirty="0">
                <a:solidFill>
                  <a:srgbClr val="B8922A"/>
                </a:solidFill>
                <a:latin typeface="Calibri"/>
              </a:rPr>
              <a:t>V0 — GITHUB BASELINE</a:t>
            </a:r>
          </a:p>
        </p:txBody>
      </p:sp>
      <p:sp>
        <p:nvSpPr>
          <p:cNvPr id="3" name="Rule"/>
          <p:cNvSpPr/>
          <p:nvPr/>
        </p:nvSpPr>
        <p:spPr>
          <a:xfrm>
            <a:off x="457200" y="868680"/>
            <a:ext cx="10515600" cy="127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VersionTag"/>
          <p:cNvSpPr/>
          <p:nvPr/>
        </p:nvSpPr>
        <p:spPr>
          <a:xfrm>
            <a:off x="457200" y="960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i="0" dirty="0">
                <a:solidFill>
                  <a:srgbClr val="B8922A"/>
                </a:solidFill>
                <a:latin typeface="Calibri"/>
              </a:rPr>
              <a:t>Version 0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>
            <a:normAutofit/>
          </a:bodyPr>
          <a:lstStyle/>
          <a:p>
            <a:r>
              <a:rPr lang="en-US" sz="2800" b="1" i="0" dirty="0">
                <a:solidFill>
                  <a:srgbClr val="1C3557"/>
                </a:solidFill>
                <a:latin typeface="Calibri"/>
              </a:rPr>
              <a:t>GitHub Baseline — LMS Adaptive Filter </a:t>
            </a:r>
            <a:r>
              <a:rPr lang="en-US" sz="2800" b="1" dirty="0">
                <a:solidFill>
                  <a:srgbClr val="1C3557"/>
                </a:solidFill>
              </a:rPr>
              <a:t>(V1</a:t>
            </a:r>
            <a:r>
              <a:rPr lang="en-US" sz="2800" b="1" i="0" dirty="0">
                <a:solidFill>
                  <a:srgbClr val="1C3557"/>
                </a:solidFill>
                <a:latin typeface="Calibri"/>
              </a:rPr>
              <a:t>)</a:t>
            </a:r>
          </a:p>
        </p:txBody>
      </p:sp>
      <p:sp>
        <p:nvSpPr>
          <p:cNvPr id="6" name="OvBox"/>
          <p:cNvSpPr/>
          <p:nvPr/>
        </p:nvSpPr>
        <p:spPr>
          <a:xfrm>
            <a:off x="457200" y="2194560"/>
            <a:ext cx="10607040" cy="5996940"/>
          </a:xfrm>
          <a:prstGeom prst="rect">
            <a:avLst/>
          </a:prstGeom>
          <a:solidFill>
            <a:srgbClr val="F5F0E8"/>
          </a:solidFill>
          <a:ln w="9525">
            <a:solidFill>
              <a:srgbClr val="B8922A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Overview"/>
          <p:cNvSpPr/>
          <p:nvPr/>
        </p:nvSpPr>
        <p:spPr>
          <a:xfrm>
            <a:off x="548640" y="2423160"/>
            <a:ext cx="10515600" cy="576834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Structure:</a:t>
            </a:r>
            <a:r>
              <a:rPr lang="en-US" sz="2400" dirty="0"/>
              <a:t> 4-tap LMS with embedded FIR reference; single integrated module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Weight Update:</a:t>
            </a:r>
            <a:r>
              <a:rPr lang="en-US" sz="2400" dirty="0"/>
              <a:t> </a:t>
            </a:r>
            <a:r>
              <a:rPr lang="en-US" sz="2400" dirty="0" err="1"/>
              <a:t>Wn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 updated </a:t>
            </a:r>
            <a:r>
              <a:rPr lang="en-US" sz="2400" dirty="0" err="1"/>
              <a:t>combinationally</a:t>
            </a:r>
            <a:r>
              <a:rPr lang="en-US" sz="2400" dirty="0"/>
              <a:t> each cycle (</a:t>
            </a:r>
            <a:r>
              <a:rPr lang="en-US" sz="2400" dirty="0" err="1"/>
              <a:t>Wn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 ≤ </a:t>
            </a:r>
            <a:r>
              <a:rPr lang="en-US" sz="2400" dirty="0" err="1"/>
              <a:t>Wn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 + </a:t>
            </a:r>
            <a:r>
              <a:rPr lang="el-GR" sz="2400" dirty="0"/>
              <a:t>γ·</a:t>
            </a:r>
            <a:r>
              <a:rPr lang="en-US" sz="2400" dirty="0" err="1"/>
              <a:t>err·x</a:t>
            </a:r>
            <a:r>
              <a:rPr lang="en-US" sz="2400" dirty="0"/>
              <a:t>[</a:t>
            </a:r>
            <a:r>
              <a:rPr lang="en-US" sz="2400" dirty="0" err="1"/>
              <a:t>i</a:t>
            </a:r>
            <a:r>
              <a:rPr lang="en-US" sz="2400" dirty="0"/>
              <a:t>])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Algorithm:</a:t>
            </a:r>
            <a:r>
              <a:rPr lang="en-US" sz="2400" dirty="0"/>
              <a:t> Standard LMS, D = 0; correct error computation and 4-tap parallel update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Precision:</a:t>
            </a:r>
            <a:r>
              <a:rPr lang="en-US" sz="2400" dirty="0"/>
              <a:t> Q4.12 fixed-point; truncation leads to quantization errors; 48-bit accumulator not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Timing:</a:t>
            </a:r>
            <a:r>
              <a:rPr lang="en-US" sz="2400" dirty="0"/>
              <a:t> Target Fmax ≥ 200 MHz; current design fails due to unregistered DSP chains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Interface:</a:t>
            </a:r>
            <a:r>
              <a:rPr lang="en-US" sz="2400" dirty="0"/>
              <a:t> AXI4-stream missing; </a:t>
            </a:r>
            <a:r>
              <a:rPr lang="el-GR" sz="2400" dirty="0"/>
              <a:t>μ </a:t>
            </a:r>
            <a:r>
              <a:rPr lang="en-US" sz="2400" dirty="0"/>
              <a:t>hardcoded; no back-pressure or runtime reconfigurable gamma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Resources:</a:t>
            </a:r>
            <a:r>
              <a:rPr lang="en-US" sz="2400" dirty="0"/>
              <a:t> 2 DSP48 per tap, 0 BRAM; FIR reference embedded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Saturation:</a:t>
            </a:r>
            <a:r>
              <a:rPr lang="en-US" sz="2400" dirty="0"/>
              <a:t> ±32767, no overflow detection; potential weight wrap-around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Verification:</a:t>
            </a:r>
            <a:r>
              <a:rPr lang="en-US" sz="2400" dirty="0"/>
              <a:t> Bit-exact with NumPy simulation; reset behavior differs in hardware; Q4.12 vs Q1.15 mismatch</a:t>
            </a:r>
          </a:p>
        </p:txBody>
      </p:sp>
      <p:sp>
        <p:nvSpPr>
          <p:cNvPr id="20" name="SlideImg_box"/>
          <p:cNvSpPr/>
          <p:nvPr/>
        </p:nvSpPr>
        <p:spPr>
          <a:xfrm>
            <a:off x="11430000" y="2308860"/>
            <a:ext cx="6035040" cy="5768340"/>
          </a:xfrm>
          <a:prstGeom prst="rect">
            <a:avLst/>
          </a:prstGeom>
          <a:solidFill>
            <a:srgbClr val="F5F0E8"/>
          </a:solidFill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389682-CDC0-7DBE-23E8-7D75BF84C084}"/>
              </a:ext>
            </a:extLst>
          </p:cNvPr>
          <p:cNvSpPr/>
          <p:nvPr/>
        </p:nvSpPr>
        <p:spPr>
          <a:xfrm>
            <a:off x="11818620" y="3059430"/>
            <a:ext cx="5257800" cy="42672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75C41C-04C3-DD9E-B5E0-7C4B7FBF6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3479811"/>
            <a:ext cx="4386044" cy="36550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egory"/>
          <p:cNvSpPr/>
          <p:nvPr/>
        </p:nvSpPr>
        <p:spPr>
          <a:xfrm>
            <a:off x="45720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b="1" i="0" dirty="0">
                <a:solidFill>
                  <a:srgbClr val="B8922A"/>
                </a:solidFill>
                <a:latin typeface="Calibri"/>
              </a:rPr>
              <a:t>V2 — AXI REDESIGN</a:t>
            </a:r>
          </a:p>
        </p:txBody>
      </p:sp>
      <p:sp>
        <p:nvSpPr>
          <p:cNvPr id="3" name="Rule"/>
          <p:cNvSpPr/>
          <p:nvPr/>
        </p:nvSpPr>
        <p:spPr>
          <a:xfrm>
            <a:off x="457200" y="868680"/>
            <a:ext cx="10515600" cy="127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VersionTag"/>
          <p:cNvSpPr/>
          <p:nvPr/>
        </p:nvSpPr>
        <p:spPr>
          <a:xfrm>
            <a:off x="457200" y="960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i="0" dirty="0">
                <a:solidFill>
                  <a:srgbClr val="B8922A"/>
                </a:solidFill>
                <a:latin typeface="Calibri"/>
              </a:rPr>
              <a:t>Version 2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i="0" dirty="0">
                <a:solidFill>
                  <a:srgbClr val="1C3557"/>
                </a:solidFill>
                <a:latin typeface="Calibri"/>
              </a:rPr>
              <a:t>LMS_EDITED_2.V (V2)</a:t>
            </a:r>
          </a:p>
        </p:txBody>
      </p:sp>
      <p:sp>
        <p:nvSpPr>
          <p:cNvPr id="6" name="OvBox"/>
          <p:cNvSpPr/>
          <p:nvPr/>
        </p:nvSpPr>
        <p:spPr>
          <a:xfrm>
            <a:off x="457200" y="2331720"/>
            <a:ext cx="10515600" cy="1143000"/>
          </a:xfrm>
          <a:prstGeom prst="rect">
            <a:avLst/>
          </a:prstGeom>
          <a:solidFill>
            <a:srgbClr val="F5F0E8"/>
          </a:solidFill>
          <a:ln w="9525">
            <a:solidFill>
              <a:srgbClr val="B892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Overview"/>
          <p:cNvSpPr/>
          <p:nvPr/>
        </p:nvSpPr>
        <p:spPr>
          <a:xfrm>
            <a:off x="548640" y="2423160"/>
            <a:ext cx="10332720" cy="9601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50" b="0" i="0" dirty="0">
                <a:solidFill>
                  <a:srgbClr val="1C3557"/>
                </a:solidFill>
                <a:latin typeface="Calibri Light"/>
              </a:rPr>
              <a:t>First architectural redesign: AXI-Stream, 4-stage pipeline, Q1.15 fixed-point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050" b="0" i="0" dirty="0">
                <a:solidFill>
                  <a:srgbClr val="1C3557"/>
                </a:solidFill>
                <a:latin typeface="Calibri Light"/>
              </a:rPr>
              <a:t>Decouples weight update from FIR; error (e_in) pre-computed externally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050" b="0" i="0" dirty="0">
                <a:solidFill>
                  <a:srgbClr val="1C3557"/>
                </a:solidFill>
                <a:latin typeface="Calibri Light"/>
              </a:rPr>
              <a:t>Timing closure achieved at 100 MHz; Stage 4 fabric addition limits ceiling (~130 MHz)</a:t>
            </a:r>
          </a:p>
        </p:txBody>
      </p:sp>
      <p:sp>
        <p:nvSpPr>
          <p:cNvPr id="8" name="Bullets"/>
          <p:cNvSpPr/>
          <p:nvPr/>
        </p:nvSpPr>
        <p:spPr>
          <a:xfrm>
            <a:off x="457200" y="3611880"/>
            <a:ext cx="10515600" cy="6400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marL="0" indent="0" algn="l">
              <a:spcBef>
                <a:spcPts val="40"/>
              </a:spcBef>
              <a:buNone/>
            </a:pPr>
            <a:r>
              <a:rPr lang="en-US" sz="1100" b="0" i="0" dirty="0">
                <a:solidFill>
                  <a:srgbClr val="1C3557"/>
                </a:solidFill>
                <a:latin typeface="Calibri Light"/>
              </a:rPr>
              <a:t>Timing — Fmax ≥ 200 MHz</a:t>
            </a:r>
          </a:p>
          <a:p>
            <a:pPr marL="0" indent="0" algn="l">
              <a:spcBef>
                <a:spcPts val="40"/>
              </a:spcBef>
              <a:buNone/>
            </a:pPr>
            <a:r>
              <a:rPr lang="en-US" sz="1100" b="0" i="0" dirty="0">
                <a:solidFill>
                  <a:srgbClr val="2E7D52"/>
                </a:solidFill>
                <a:latin typeface="Calibri Light"/>
              </a:rPr>
              <a:t>+ Each stage is a single registered multiply or adder (&lt;10 ns); WNS positive at 100 MHz</a:t>
            </a:r>
          </a:p>
          <a:p>
            <a:pPr marL="0" indent="0" algn="l">
              <a:spcBef>
                <a:spcPts val="40"/>
              </a:spcBef>
              <a:buNone/>
            </a:pPr>
            <a:r>
              <a:rPr lang="en-US" sz="1100" b="0" i="0" dirty="0">
                <a:solidFill>
                  <a:srgbClr val="A0522D"/>
                </a:solidFill>
                <a:latin typeface="Calibri Light"/>
              </a:rPr>
              <a:t>– Stage 4 (48-bit w_sum + overflow detection + 3:1 mux) limits Fmax to ~130 MHz</a:t>
            </a:r>
          </a:p>
          <a:p>
            <a:pPr marL="0" indent="0" algn="l">
              <a:spcBef>
                <a:spcPts val="40"/>
              </a:spcBef>
              <a:buNone/>
            </a:pPr>
            <a:r>
              <a:rPr lang="en-US" sz="1100" b="0" i="0" dirty="0">
                <a:solidFill>
                  <a:srgbClr val="1C3557"/>
                </a:solidFill>
                <a:latin typeface="Calibri Light"/>
              </a:rPr>
              <a:t>Algorithm — Standard LMS, D = 0</a:t>
            </a:r>
          </a:p>
          <a:p>
            <a:pPr marL="0" indent="0" algn="l">
              <a:spcBef>
                <a:spcPts val="40"/>
              </a:spcBef>
              <a:buNone/>
            </a:pPr>
            <a:r>
              <a:rPr lang="en-US" sz="1100" b="0" i="0" dirty="0">
                <a:solidFill>
                  <a:srgbClr val="2E7D52"/>
                </a:solidFill>
                <a:latin typeface="Calibri Light"/>
              </a:rPr>
              <a:t>+ Standard LMS implemented correctly; w_reg feedback combinationally included within same cycle</a:t>
            </a:r>
          </a:p>
          <a:p>
            <a:pPr marL="0" indent="0" algn="l">
              <a:spcBef>
                <a:spcPts val="40"/>
              </a:spcBef>
              <a:buNone/>
            </a:pPr>
            <a:r>
              <a:rPr lang="en-US" sz="1100" b="0" i="0" dirty="0">
                <a:solidFill>
                  <a:srgbClr val="2E7D52"/>
                </a:solidFill>
                <a:latin typeface="Calibri Light"/>
              </a:rPr>
              <a:t>+ Error arrives pre-computed → decouples weight update from FIR</a:t>
            </a:r>
          </a:p>
          <a:p>
            <a:pPr marL="0" indent="0" algn="l">
              <a:spcBef>
                <a:spcPts val="40"/>
              </a:spcBef>
              <a:buNone/>
            </a:pPr>
            <a:r>
              <a:rPr lang="en-US" sz="1100" b="0" i="0" dirty="0">
                <a:solidFill>
                  <a:srgbClr val="1C3557"/>
                </a:solidFill>
                <a:latin typeface="Calibri Light"/>
              </a:rPr>
              <a:t>Precision — Q1.15, 48-bit accumulator, error &lt; 2⁻¹⁷</a:t>
            </a:r>
          </a:p>
          <a:p>
            <a:pPr marL="0" indent="0" algn="l">
              <a:spcBef>
                <a:spcPts val="40"/>
              </a:spcBef>
              <a:buNone/>
            </a:pPr>
            <a:r>
              <a:rPr lang="en-US" sz="1100" b="0" i="0" dirty="0">
                <a:solidFill>
                  <a:srgbClr val="2E7D52"/>
                </a:solidFill>
                <a:latin typeface="Calibri Light"/>
              </a:rPr>
              <a:t>+ Q1.15 format → higher fractional resolution than baseline Q4.12</a:t>
            </a:r>
          </a:p>
          <a:p>
            <a:pPr marL="0" indent="0" algn="l">
              <a:spcBef>
                <a:spcPts val="40"/>
              </a:spcBef>
              <a:buNone/>
            </a:pPr>
            <a:r>
              <a:rPr lang="en-US" sz="1100" b="0" i="0" dirty="0">
                <a:solidFill>
                  <a:srgbClr val="2E7D52"/>
                </a:solidFill>
                <a:latin typeface="Calibri Light"/>
              </a:rPr>
              <a:t>+ 48-bit w_reg accumulator holds full-precision sum; truncation only on final output slice</a:t>
            </a:r>
          </a:p>
          <a:p>
            <a:pPr marL="0" indent="0" algn="l">
              <a:spcBef>
                <a:spcPts val="40"/>
              </a:spcBef>
              <a:buNone/>
            </a:pPr>
            <a:r>
              <a:rPr lang="en-US" sz="1100" b="0" i="0" dirty="0">
                <a:solidFill>
                  <a:srgbClr val="2E7D52"/>
                </a:solidFill>
                <a:latin typeface="Calibri Light"/>
              </a:rPr>
              <a:t>+ Stage 2 truncation (P1[31:14] → 18 bits) error bounded &lt; 2⁻¹⁷</a:t>
            </a:r>
          </a:p>
        </p:txBody>
      </p:sp>
      <p:sp>
        <p:nvSpPr>
          <p:cNvPr id="120" name="SlideImg_label"/>
          <p:cNvSpPr/>
          <p:nvPr/>
        </p:nvSpPr>
        <p:spPr>
          <a:xfrm>
            <a:off x="11247120" y="53263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6B7280"/>
                </a:solidFill>
                <a:latin typeface="Calibri Light"/>
              </a:rPr>
              <a:t>[ V2 Architecture Diagram ]</a:t>
            </a:r>
          </a:p>
        </p:txBody>
      </p:sp>
      <p:sp>
        <p:nvSpPr>
          <p:cNvPr id="17" name="OvBox">
            <a:extLst>
              <a:ext uri="{FF2B5EF4-FFF2-40B4-BE49-F238E27FC236}">
                <a16:creationId xmlns:a16="http://schemas.microsoft.com/office/drawing/2014/main" id="{CC6A1274-C7A3-C767-4080-A8D400CD69F5}"/>
              </a:ext>
            </a:extLst>
          </p:cNvPr>
          <p:cNvSpPr/>
          <p:nvPr/>
        </p:nvSpPr>
        <p:spPr>
          <a:xfrm>
            <a:off x="441960" y="2247900"/>
            <a:ext cx="10515600" cy="1143000"/>
          </a:xfrm>
          <a:prstGeom prst="rect">
            <a:avLst/>
          </a:prstGeom>
          <a:solidFill>
            <a:srgbClr val="F5F0E8"/>
          </a:solidFill>
          <a:ln w="9525">
            <a:solidFill>
              <a:srgbClr val="B892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erview">
            <a:extLst>
              <a:ext uri="{FF2B5EF4-FFF2-40B4-BE49-F238E27FC236}">
                <a16:creationId xmlns:a16="http://schemas.microsoft.com/office/drawing/2014/main" id="{70FB5721-07AD-C6FD-CBB4-A74AF9050F68}"/>
              </a:ext>
            </a:extLst>
          </p:cNvPr>
          <p:cNvSpPr/>
          <p:nvPr/>
        </p:nvSpPr>
        <p:spPr>
          <a:xfrm>
            <a:off x="548640" y="2423160"/>
            <a:ext cx="10332720" cy="9601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50" b="0" i="0" dirty="0">
                <a:solidFill>
                  <a:srgbClr val="1C3557"/>
                </a:solidFill>
                <a:latin typeface="Calibri Light"/>
              </a:rPr>
              <a:t>First hardware-viable rewrite of the GitHub baseline; fully pipelined 4-tap LMS with FIR reference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050" b="0" i="0" dirty="0">
                <a:solidFill>
                  <a:srgbClr val="1C3557"/>
                </a:solidFill>
                <a:latin typeface="Calibri Light"/>
              </a:rPr>
              <a:t>Six pipeline stages (P1, P2, P3, W1, W2, W3) to break the long combinational path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050" b="0" i="0" dirty="0">
                <a:solidFill>
                  <a:srgbClr val="1C3557"/>
                </a:solidFill>
                <a:latin typeface="Calibri Light"/>
              </a:rPr>
              <a:t>WNS improved from −20.485 ns → +4–5 ns at 100 MHz; timing closure achieved</a:t>
            </a:r>
          </a:p>
        </p:txBody>
      </p:sp>
      <p:sp>
        <p:nvSpPr>
          <p:cNvPr id="19" name="SlideImg_label">
            <a:extLst>
              <a:ext uri="{FF2B5EF4-FFF2-40B4-BE49-F238E27FC236}">
                <a16:creationId xmlns:a16="http://schemas.microsoft.com/office/drawing/2014/main" id="{FCA28E06-31B2-2BF5-F247-2108504C1742}"/>
              </a:ext>
            </a:extLst>
          </p:cNvPr>
          <p:cNvSpPr/>
          <p:nvPr/>
        </p:nvSpPr>
        <p:spPr>
          <a:xfrm>
            <a:off x="11247120" y="53263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6B7280"/>
                </a:solidFill>
                <a:latin typeface="Calibri Light"/>
              </a:rPr>
              <a:t>[ V1 Pipeline Diagram ]</a:t>
            </a:r>
          </a:p>
        </p:txBody>
      </p:sp>
      <p:sp>
        <p:nvSpPr>
          <p:cNvPr id="21" name="OvBox">
            <a:extLst>
              <a:ext uri="{FF2B5EF4-FFF2-40B4-BE49-F238E27FC236}">
                <a16:creationId xmlns:a16="http://schemas.microsoft.com/office/drawing/2014/main" id="{55B3BCD4-3770-50FA-DBAC-B8B26C7A0959}"/>
              </a:ext>
            </a:extLst>
          </p:cNvPr>
          <p:cNvSpPr/>
          <p:nvPr/>
        </p:nvSpPr>
        <p:spPr>
          <a:xfrm>
            <a:off x="457200" y="2194560"/>
            <a:ext cx="10683240" cy="5669280"/>
          </a:xfrm>
          <a:prstGeom prst="rect">
            <a:avLst/>
          </a:prstGeom>
          <a:solidFill>
            <a:srgbClr val="F5F0E8"/>
          </a:solidFill>
          <a:ln w="9525">
            <a:solidFill>
              <a:srgbClr val="B8922A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Overview">
            <a:extLst>
              <a:ext uri="{FF2B5EF4-FFF2-40B4-BE49-F238E27FC236}">
                <a16:creationId xmlns:a16="http://schemas.microsoft.com/office/drawing/2014/main" id="{7C5155DB-0BF3-3887-F00F-9CBEDCD97280}"/>
              </a:ext>
            </a:extLst>
          </p:cNvPr>
          <p:cNvSpPr/>
          <p:nvPr/>
        </p:nvSpPr>
        <p:spPr>
          <a:xfrm>
            <a:off x="548640" y="2423160"/>
            <a:ext cx="9966960" cy="544068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Structure:</a:t>
            </a:r>
            <a:r>
              <a:rPr lang="en-US" sz="2400" dirty="0"/>
              <a:t> 4-stage pipeline, AXI4-Stream, Q1.15 fixed-point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Weight Update:</a:t>
            </a:r>
            <a:r>
              <a:rPr lang="en-US" sz="2400" dirty="0"/>
              <a:t> Error pre-computed externally; decoupled from FIR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Algorithm:</a:t>
            </a:r>
            <a:r>
              <a:rPr lang="en-US" sz="2400" dirty="0"/>
              <a:t> Standard LMS, D = 0; </a:t>
            </a:r>
            <a:r>
              <a:rPr lang="en-US" sz="2400" dirty="0" err="1"/>
              <a:t>w_reg</a:t>
            </a:r>
            <a:r>
              <a:rPr lang="en-US" sz="2400" dirty="0"/>
              <a:t> feedback included in same cycle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Precision:</a:t>
            </a:r>
            <a:r>
              <a:rPr lang="en-US" sz="2400" dirty="0"/>
              <a:t> Q1.15; 48-bit accumulator; truncation error &lt; 2⁻¹⁷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Timing:</a:t>
            </a:r>
            <a:r>
              <a:rPr lang="en-US" sz="2400" dirty="0"/>
              <a:t> Stage-per-multiply/add; WNS positive at 100 MHz; Fmax limited by Stage 4 (~130 MHz)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Interface:</a:t>
            </a:r>
            <a:r>
              <a:rPr lang="en-US" sz="2400" dirty="0"/>
              <a:t> Full AXI4-Stream; </a:t>
            </a:r>
            <a:r>
              <a:rPr lang="el-GR" sz="2400" dirty="0"/>
              <a:t>μ </a:t>
            </a:r>
            <a:r>
              <a:rPr lang="en-US" sz="2400" dirty="0"/>
              <a:t>runtime-configurable; back-pressure handled via </a:t>
            </a:r>
            <a:r>
              <a:rPr lang="en-US" sz="2400" dirty="0" err="1"/>
              <a:t>pipe_en</a:t>
            </a:r>
            <a:r>
              <a:rPr lang="en-US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Resources:</a:t>
            </a:r>
            <a:r>
              <a:rPr lang="en-US" sz="2400" dirty="0"/>
              <a:t> 2 DSP48E1 per tap; 0 BRAM; distributed FFs hold state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Saturation:</a:t>
            </a:r>
            <a:r>
              <a:rPr lang="en-US" sz="2400" dirty="0"/>
              <a:t> ±32767; two-operand overflow detection applied to accumulator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Verification:</a:t>
            </a:r>
            <a:r>
              <a:rPr lang="en-US" sz="2400" dirty="0"/>
              <a:t> Bit-exact NumPy match; pipeline drains correctly; saturation assumptions may skip bits</a:t>
            </a:r>
          </a:p>
        </p:txBody>
      </p:sp>
      <p:sp>
        <p:nvSpPr>
          <p:cNvPr id="23" name="SlideImg_box">
            <a:extLst>
              <a:ext uri="{FF2B5EF4-FFF2-40B4-BE49-F238E27FC236}">
                <a16:creationId xmlns:a16="http://schemas.microsoft.com/office/drawing/2014/main" id="{76E7D743-58D9-A17F-2A73-B723598B916E}"/>
              </a:ext>
            </a:extLst>
          </p:cNvPr>
          <p:cNvSpPr/>
          <p:nvPr/>
        </p:nvSpPr>
        <p:spPr>
          <a:xfrm>
            <a:off x="11430000" y="2308860"/>
            <a:ext cx="6400800" cy="5768340"/>
          </a:xfrm>
          <a:prstGeom prst="rect">
            <a:avLst/>
          </a:prstGeom>
          <a:solidFill>
            <a:srgbClr val="F5F0E8"/>
          </a:solidFill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850962-B710-6A52-D460-53D7352E2E04}"/>
              </a:ext>
            </a:extLst>
          </p:cNvPr>
          <p:cNvSpPr/>
          <p:nvPr/>
        </p:nvSpPr>
        <p:spPr>
          <a:xfrm>
            <a:off x="11670030" y="3059430"/>
            <a:ext cx="5920740" cy="42672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20B854B-FB24-45D2-964B-FA769BAE1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8426" y="3357216"/>
            <a:ext cx="5463947" cy="33439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egory"/>
          <p:cNvSpPr/>
          <p:nvPr/>
        </p:nvSpPr>
        <p:spPr>
          <a:xfrm>
            <a:off x="45720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b="1" i="0" dirty="0">
                <a:solidFill>
                  <a:srgbClr val="B8922A"/>
                </a:solidFill>
                <a:latin typeface="Calibri"/>
              </a:rPr>
              <a:t>V3 — ULTRA-PIPELINED</a:t>
            </a:r>
          </a:p>
        </p:txBody>
      </p:sp>
      <p:sp>
        <p:nvSpPr>
          <p:cNvPr id="3" name="Rule"/>
          <p:cNvSpPr/>
          <p:nvPr/>
        </p:nvSpPr>
        <p:spPr>
          <a:xfrm>
            <a:off x="457200" y="868680"/>
            <a:ext cx="10515600" cy="127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"/>
          <p:cNvSpPr/>
          <p:nvPr/>
        </p:nvSpPr>
        <p:spPr>
          <a:xfrm>
            <a:off x="45720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i="0" dirty="0">
                <a:solidFill>
                  <a:srgbClr val="1C3557"/>
                </a:solidFill>
                <a:latin typeface="Calibri"/>
              </a:rPr>
              <a:t>TRIAL_4.V (V3)  (cont.)</a:t>
            </a:r>
          </a:p>
        </p:txBody>
      </p:sp>
      <p:sp>
        <p:nvSpPr>
          <p:cNvPr id="4" name="OvBox">
            <a:extLst>
              <a:ext uri="{FF2B5EF4-FFF2-40B4-BE49-F238E27FC236}">
                <a16:creationId xmlns:a16="http://schemas.microsoft.com/office/drawing/2014/main" id="{C940D395-B5D2-E69D-0831-41AC16175047}"/>
              </a:ext>
            </a:extLst>
          </p:cNvPr>
          <p:cNvSpPr/>
          <p:nvPr/>
        </p:nvSpPr>
        <p:spPr>
          <a:xfrm>
            <a:off x="457200" y="2194560"/>
            <a:ext cx="10607040" cy="4091940"/>
          </a:xfrm>
          <a:prstGeom prst="rect">
            <a:avLst/>
          </a:prstGeom>
          <a:solidFill>
            <a:srgbClr val="F5F0E8"/>
          </a:solidFill>
          <a:ln w="9525">
            <a:solidFill>
              <a:srgbClr val="B8922A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Overview">
            <a:extLst>
              <a:ext uri="{FF2B5EF4-FFF2-40B4-BE49-F238E27FC236}">
                <a16:creationId xmlns:a16="http://schemas.microsoft.com/office/drawing/2014/main" id="{CE96AF46-81F6-3F99-E7DF-471292110A1F}"/>
              </a:ext>
            </a:extLst>
          </p:cNvPr>
          <p:cNvSpPr/>
          <p:nvPr/>
        </p:nvSpPr>
        <p:spPr>
          <a:xfrm>
            <a:off x="548640" y="2423160"/>
            <a:ext cx="10515600" cy="371094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5-stage LMS pipeline</a:t>
            </a:r>
            <a:r>
              <a:rPr lang="en-US" sz="2400" dirty="0"/>
              <a:t>; Stage 4 split (S4A/S4B) → reduced critical path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Standard LMS</a:t>
            </a:r>
            <a:r>
              <a:rPr lang="en-US" sz="2400" dirty="0"/>
              <a:t>, D = 1 (delayed LMS due to pipeline)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Timing</a:t>
            </a:r>
            <a:r>
              <a:rPr lang="en-US" sz="2400" dirty="0"/>
              <a:t>: Fmax ≈ 200 MHz; primary architectural goal met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Interface</a:t>
            </a:r>
            <a:r>
              <a:rPr lang="en-US" sz="2400" dirty="0"/>
              <a:t>: AXI4-Stream; </a:t>
            </a:r>
            <a:r>
              <a:rPr lang="el-GR" sz="2400" dirty="0"/>
              <a:t>μ </a:t>
            </a:r>
            <a:r>
              <a:rPr lang="en-US" sz="2400" dirty="0"/>
              <a:t>runtime-configurable; 5-cycle latency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Resources</a:t>
            </a:r>
            <a:r>
              <a:rPr lang="en-US" sz="2400" dirty="0"/>
              <a:t>: 2 DSP48/tap; extra FFs for Stage 4 registers; 0 BRAM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Saturation</a:t>
            </a:r>
            <a:r>
              <a:rPr lang="en-US" sz="2400" dirty="0"/>
              <a:t>: ±32767; temporary 1-cycle overshoot possible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Verification</a:t>
            </a:r>
            <a:r>
              <a:rPr lang="en-US" sz="2400" dirty="0"/>
              <a:t>: Bit-exact NumPy match impossible due to D=1 delay</a:t>
            </a:r>
          </a:p>
        </p:txBody>
      </p:sp>
      <p:sp>
        <p:nvSpPr>
          <p:cNvPr id="7" name="SlideImg_box">
            <a:extLst>
              <a:ext uri="{FF2B5EF4-FFF2-40B4-BE49-F238E27FC236}">
                <a16:creationId xmlns:a16="http://schemas.microsoft.com/office/drawing/2014/main" id="{72531CB9-FD8E-05E2-3CFB-84A8A8CD980D}"/>
              </a:ext>
            </a:extLst>
          </p:cNvPr>
          <p:cNvSpPr/>
          <p:nvPr/>
        </p:nvSpPr>
        <p:spPr>
          <a:xfrm>
            <a:off x="11430000" y="2308860"/>
            <a:ext cx="6035040" cy="5768340"/>
          </a:xfrm>
          <a:prstGeom prst="rect">
            <a:avLst/>
          </a:prstGeom>
          <a:solidFill>
            <a:srgbClr val="F5F0E8"/>
          </a:solidFill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8E8B5C-D601-33B9-56A4-855035FCB218}"/>
              </a:ext>
            </a:extLst>
          </p:cNvPr>
          <p:cNvSpPr/>
          <p:nvPr/>
        </p:nvSpPr>
        <p:spPr>
          <a:xfrm>
            <a:off x="11728315" y="3059430"/>
            <a:ext cx="5438409" cy="42672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19E698-9BA4-A275-237D-7852F30E9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2506" y="3524956"/>
            <a:ext cx="5314218" cy="33361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egory"/>
          <p:cNvSpPr/>
          <p:nvPr/>
        </p:nvSpPr>
        <p:spPr>
          <a:xfrm>
            <a:off x="457200" y="457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900" b="1" i="0" dirty="0">
                <a:solidFill>
                  <a:srgbClr val="B8922A"/>
                </a:solidFill>
                <a:latin typeface="Calibri"/>
              </a:rPr>
              <a:t>V4 — FINAL VERSION</a:t>
            </a:r>
          </a:p>
        </p:txBody>
      </p:sp>
      <p:sp>
        <p:nvSpPr>
          <p:cNvPr id="3" name="Rule"/>
          <p:cNvSpPr/>
          <p:nvPr/>
        </p:nvSpPr>
        <p:spPr>
          <a:xfrm>
            <a:off x="457200" y="868680"/>
            <a:ext cx="10515600" cy="127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VersionTag"/>
          <p:cNvSpPr/>
          <p:nvPr/>
        </p:nvSpPr>
        <p:spPr>
          <a:xfrm>
            <a:off x="457200" y="960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00" b="1" i="0" dirty="0">
                <a:solidFill>
                  <a:srgbClr val="B8922A"/>
                </a:solidFill>
                <a:latin typeface="Calibri"/>
              </a:rPr>
              <a:t>Version 4</a:t>
            </a:r>
          </a:p>
        </p:txBody>
      </p:sp>
      <p:sp>
        <p:nvSpPr>
          <p:cNvPr id="5" name="Title"/>
          <p:cNvSpPr/>
          <p:nvPr/>
        </p:nvSpPr>
        <p:spPr>
          <a:xfrm>
            <a:off x="457200" y="1371600"/>
            <a:ext cx="10515600" cy="8229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800" b="1" i="0" dirty="0">
                <a:solidFill>
                  <a:srgbClr val="1C3557"/>
                </a:solidFill>
                <a:latin typeface="Calibri"/>
              </a:rPr>
              <a:t>LMS.V (V4)</a:t>
            </a:r>
          </a:p>
        </p:txBody>
      </p:sp>
      <p:sp>
        <p:nvSpPr>
          <p:cNvPr id="9" name="OvBox">
            <a:extLst>
              <a:ext uri="{FF2B5EF4-FFF2-40B4-BE49-F238E27FC236}">
                <a16:creationId xmlns:a16="http://schemas.microsoft.com/office/drawing/2014/main" id="{9E90F247-C1CE-DA02-F3E8-EB1DEA2A3DD5}"/>
              </a:ext>
            </a:extLst>
          </p:cNvPr>
          <p:cNvSpPr/>
          <p:nvPr/>
        </p:nvSpPr>
        <p:spPr>
          <a:xfrm>
            <a:off x="457200" y="2331720"/>
            <a:ext cx="10515600" cy="1143000"/>
          </a:xfrm>
          <a:prstGeom prst="rect">
            <a:avLst/>
          </a:prstGeom>
          <a:solidFill>
            <a:srgbClr val="F5F0E8"/>
          </a:solidFill>
          <a:ln w="9525">
            <a:solidFill>
              <a:srgbClr val="B892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Overview">
            <a:extLst>
              <a:ext uri="{FF2B5EF4-FFF2-40B4-BE49-F238E27FC236}">
                <a16:creationId xmlns:a16="http://schemas.microsoft.com/office/drawing/2014/main" id="{1846C5FB-40BC-536B-E53E-1BADBBB798AB}"/>
              </a:ext>
            </a:extLst>
          </p:cNvPr>
          <p:cNvSpPr/>
          <p:nvPr/>
        </p:nvSpPr>
        <p:spPr>
          <a:xfrm>
            <a:off x="548640" y="2423160"/>
            <a:ext cx="10332720" cy="9601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50" b="0" i="0" dirty="0">
                <a:solidFill>
                  <a:srgbClr val="1C3557"/>
                </a:solidFill>
                <a:latin typeface="Calibri Light"/>
              </a:rPr>
              <a:t>First architectural redesign: AXI-Stream, 4-stage pipeline, Q1.15 fixed-point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050" b="0" i="0" dirty="0">
                <a:solidFill>
                  <a:srgbClr val="1C3557"/>
                </a:solidFill>
                <a:latin typeface="Calibri Light"/>
              </a:rPr>
              <a:t>Decouples weight update from FIR; error (e_in) pre-computed externally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050" b="0" i="0" dirty="0">
                <a:solidFill>
                  <a:srgbClr val="1C3557"/>
                </a:solidFill>
                <a:latin typeface="Calibri Light"/>
              </a:rPr>
              <a:t>Timing closure achieved at 100 MHz; Stage 4 fabric addition limits ceiling (~130 MHz)</a:t>
            </a:r>
          </a:p>
        </p:txBody>
      </p:sp>
      <p:sp>
        <p:nvSpPr>
          <p:cNvPr id="11" name="SlideImg_label">
            <a:extLst>
              <a:ext uri="{FF2B5EF4-FFF2-40B4-BE49-F238E27FC236}">
                <a16:creationId xmlns:a16="http://schemas.microsoft.com/office/drawing/2014/main" id="{5F1370E2-FFF7-D278-20EF-364A0721E5E6}"/>
              </a:ext>
            </a:extLst>
          </p:cNvPr>
          <p:cNvSpPr/>
          <p:nvPr/>
        </p:nvSpPr>
        <p:spPr>
          <a:xfrm>
            <a:off x="11247120" y="53263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6B7280"/>
                </a:solidFill>
                <a:latin typeface="Calibri Light"/>
              </a:rPr>
              <a:t>[ V2 Architecture Diagram ]</a:t>
            </a:r>
          </a:p>
        </p:txBody>
      </p:sp>
      <p:sp>
        <p:nvSpPr>
          <p:cNvPr id="12" name="OvBox">
            <a:extLst>
              <a:ext uri="{FF2B5EF4-FFF2-40B4-BE49-F238E27FC236}">
                <a16:creationId xmlns:a16="http://schemas.microsoft.com/office/drawing/2014/main" id="{B2992656-1631-8E24-924D-3FE85A47B9FF}"/>
              </a:ext>
            </a:extLst>
          </p:cNvPr>
          <p:cNvSpPr/>
          <p:nvPr/>
        </p:nvSpPr>
        <p:spPr>
          <a:xfrm>
            <a:off x="441960" y="2247900"/>
            <a:ext cx="10515600" cy="1143000"/>
          </a:xfrm>
          <a:prstGeom prst="rect">
            <a:avLst/>
          </a:prstGeom>
          <a:solidFill>
            <a:srgbClr val="F5F0E8"/>
          </a:solidFill>
          <a:ln w="9525">
            <a:solidFill>
              <a:srgbClr val="B892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erview">
            <a:extLst>
              <a:ext uri="{FF2B5EF4-FFF2-40B4-BE49-F238E27FC236}">
                <a16:creationId xmlns:a16="http://schemas.microsoft.com/office/drawing/2014/main" id="{5A5ADD50-185F-A9B1-FE36-66E4AF81E51E}"/>
              </a:ext>
            </a:extLst>
          </p:cNvPr>
          <p:cNvSpPr/>
          <p:nvPr/>
        </p:nvSpPr>
        <p:spPr>
          <a:xfrm>
            <a:off x="548640" y="2423160"/>
            <a:ext cx="10332720" cy="96012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050" b="0" i="0" dirty="0">
                <a:solidFill>
                  <a:srgbClr val="1C3557"/>
                </a:solidFill>
                <a:latin typeface="Calibri Light"/>
              </a:rPr>
              <a:t>First hardware-viable rewrite of the GitHub baseline; fully pipelined 4-tap LMS with FIR reference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050" b="0" i="0" dirty="0">
                <a:solidFill>
                  <a:srgbClr val="1C3557"/>
                </a:solidFill>
                <a:latin typeface="Calibri Light"/>
              </a:rPr>
              <a:t>Six pipeline stages (P1, P2, P3, W1, W2, W3) to break the long combinational path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en-US" sz="1050" b="0" i="0" dirty="0">
                <a:solidFill>
                  <a:srgbClr val="1C3557"/>
                </a:solidFill>
                <a:latin typeface="Calibri Light"/>
              </a:rPr>
              <a:t>WNS improved from −20.485 ns → +4–5 ns at 100 MHz; timing closure achieved</a:t>
            </a:r>
          </a:p>
        </p:txBody>
      </p:sp>
      <p:sp>
        <p:nvSpPr>
          <p:cNvPr id="14" name="SlideImg_label">
            <a:extLst>
              <a:ext uri="{FF2B5EF4-FFF2-40B4-BE49-F238E27FC236}">
                <a16:creationId xmlns:a16="http://schemas.microsoft.com/office/drawing/2014/main" id="{18F78DD6-AFD8-D5CD-44F8-DC8B537CE5EF}"/>
              </a:ext>
            </a:extLst>
          </p:cNvPr>
          <p:cNvSpPr/>
          <p:nvPr/>
        </p:nvSpPr>
        <p:spPr>
          <a:xfrm>
            <a:off x="11247120" y="532638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6B7280"/>
                </a:solidFill>
                <a:latin typeface="Calibri Light"/>
              </a:rPr>
              <a:t>[ V1 Pipeline Diagram ]</a:t>
            </a:r>
          </a:p>
        </p:txBody>
      </p:sp>
      <p:sp>
        <p:nvSpPr>
          <p:cNvPr id="15" name="OvBox">
            <a:extLst>
              <a:ext uri="{FF2B5EF4-FFF2-40B4-BE49-F238E27FC236}">
                <a16:creationId xmlns:a16="http://schemas.microsoft.com/office/drawing/2014/main" id="{0C424BA7-41BA-C750-942A-AA1625D2CD08}"/>
              </a:ext>
            </a:extLst>
          </p:cNvPr>
          <p:cNvSpPr/>
          <p:nvPr/>
        </p:nvSpPr>
        <p:spPr>
          <a:xfrm>
            <a:off x="457200" y="2194560"/>
            <a:ext cx="10683240" cy="6289040"/>
          </a:xfrm>
          <a:prstGeom prst="rect">
            <a:avLst/>
          </a:prstGeom>
          <a:solidFill>
            <a:srgbClr val="F5F0E8"/>
          </a:solidFill>
          <a:ln w="9525">
            <a:solidFill>
              <a:srgbClr val="B8922A"/>
            </a:solidFill>
            <a:prstDash val="dash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Overview">
            <a:extLst>
              <a:ext uri="{FF2B5EF4-FFF2-40B4-BE49-F238E27FC236}">
                <a16:creationId xmlns:a16="http://schemas.microsoft.com/office/drawing/2014/main" id="{18F60B2D-A3AD-7962-8195-21A299EEAE9B}"/>
              </a:ext>
            </a:extLst>
          </p:cNvPr>
          <p:cNvSpPr/>
          <p:nvPr/>
        </p:nvSpPr>
        <p:spPr>
          <a:xfrm>
            <a:off x="548640" y="2423160"/>
            <a:ext cx="10408920" cy="5768340"/>
          </a:xfrm>
          <a:prstGeom prst="rect">
            <a:avLst/>
          </a:prstGeom>
          <a:noFill/>
          <a:ln/>
        </p:spPr>
        <p:txBody>
          <a:bodyPr wrap="square" lIns="45720" tIns="22860" rIns="45720" bIns="2286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Structure:</a:t>
            </a:r>
            <a:r>
              <a:rPr lang="en-US" sz="2400" dirty="0"/>
              <a:t> 4-stage pipelined standard LMS (D = 0) with optimized Stage-3 multiply, AXI4-Stream interface, and preserved 48-bit accumulator.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Timing:</a:t>
            </a:r>
            <a:r>
              <a:rPr lang="en-US" sz="2400" dirty="0"/>
              <a:t> Timing closes at 100 MHz with positive WNS; Stage-4 feedback path limits Fmax to ~150 MHz (below 200 MHz target).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Algorithm: </a:t>
            </a:r>
            <a:r>
              <a:rPr lang="en-US" sz="2400" dirty="0"/>
              <a:t>Standard LMS fully restored; bubble cycles masked so weights remain correct.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Precision:</a:t>
            </a:r>
            <a:r>
              <a:rPr lang="en-US" sz="2400" dirty="0"/>
              <a:t> Q1.15 fixed-point with 48-bit accumulator; truncation error &lt; 2⁻¹⁷.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Interface: </a:t>
            </a:r>
            <a:r>
              <a:rPr lang="en-US" sz="2400" dirty="0"/>
              <a:t>AXI4-Stream with runtime </a:t>
            </a:r>
            <a:r>
              <a:rPr lang="el-GR" sz="2400" dirty="0"/>
              <a:t>μ </a:t>
            </a:r>
            <a:r>
              <a:rPr lang="en-US" sz="2400" dirty="0"/>
              <a:t>via AXI-Lite; fixed 4-cycle pipeline latency.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Resources:</a:t>
            </a:r>
            <a:r>
              <a:rPr lang="en-US" sz="2400" dirty="0"/>
              <a:t> 2 DSP48E1 slices per tap; 0 BRAM; Stage-4 fabric still high (~156 LUTs/tap).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Saturation:</a:t>
            </a:r>
            <a:r>
              <a:rPr lang="en-US" sz="2400" dirty="0"/>
              <a:t> Signed overflow detection preserves 48-bit accumulator; prevents windup.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Verification: </a:t>
            </a:r>
            <a:r>
              <a:rPr lang="en-US" sz="2400" dirty="0"/>
              <a:t>Bit-exact to NumPy Q1.15 reference; deadlock-free; documentation of pipeline assumptions recommended.</a:t>
            </a:r>
            <a:endParaRPr lang="en-US" sz="2400" b="1" dirty="0"/>
          </a:p>
        </p:txBody>
      </p:sp>
      <p:sp>
        <p:nvSpPr>
          <p:cNvPr id="17" name="SlideImg_box">
            <a:extLst>
              <a:ext uri="{FF2B5EF4-FFF2-40B4-BE49-F238E27FC236}">
                <a16:creationId xmlns:a16="http://schemas.microsoft.com/office/drawing/2014/main" id="{36725E17-61D9-6265-D044-F7A22D1C522F}"/>
              </a:ext>
            </a:extLst>
          </p:cNvPr>
          <p:cNvSpPr/>
          <p:nvPr/>
        </p:nvSpPr>
        <p:spPr>
          <a:xfrm>
            <a:off x="11430000" y="2308860"/>
            <a:ext cx="6400800" cy="5768340"/>
          </a:xfrm>
          <a:prstGeom prst="rect">
            <a:avLst/>
          </a:prstGeom>
          <a:solidFill>
            <a:srgbClr val="F5F0E8"/>
          </a:solidFill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F815CF3-BFEC-228A-32A2-8F383F623493}"/>
              </a:ext>
            </a:extLst>
          </p:cNvPr>
          <p:cNvSpPr/>
          <p:nvPr/>
        </p:nvSpPr>
        <p:spPr>
          <a:xfrm>
            <a:off x="11670030" y="3059430"/>
            <a:ext cx="5920740" cy="4267200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6C7DE86-3DA6-287C-19FF-DA7688F53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2441" y="3474720"/>
            <a:ext cx="5364883" cy="31146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8D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4C34E-C0B2-C4F1-D7A8-6694FF7BE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le">
            <a:extLst>
              <a:ext uri="{FF2B5EF4-FFF2-40B4-BE49-F238E27FC236}">
                <a16:creationId xmlns:a16="http://schemas.microsoft.com/office/drawing/2014/main" id="{353D6DE0-3DB1-E3D7-A685-2383840B224F}"/>
              </a:ext>
            </a:extLst>
          </p:cNvPr>
          <p:cNvSpPr/>
          <p:nvPr/>
        </p:nvSpPr>
        <p:spPr>
          <a:xfrm>
            <a:off x="457200" y="868680"/>
            <a:ext cx="17373600" cy="127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6FC65D8B-A2D3-ECB4-E221-CC258C1DB64F}"/>
              </a:ext>
            </a:extLst>
          </p:cNvPr>
          <p:cNvSpPr/>
          <p:nvPr/>
        </p:nvSpPr>
        <p:spPr>
          <a:xfrm>
            <a:off x="457200" y="914400"/>
            <a:ext cx="17373600" cy="9144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C355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Comparison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9253D63-8E86-5EFD-9E5E-0400DECDD6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9259641"/>
              </p:ext>
            </p:extLst>
          </p:nvPr>
        </p:nvGraphicFramePr>
        <p:xfrm>
          <a:off x="1209675" y="2019300"/>
          <a:ext cx="15868650" cy="762384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964180">
                  <a:extLst>
                    <a:ext uri="{9D8B030D-6E8A-4147-A177-3AD203B41FA5}">
                      <a16:colId xmlns:a16="http://schemas.microsoft.com/office/drawing/2014/main" val="3924189815"/>
                    </a:ext>
                  </a:extLst>
                </a:gridCol>
                <a:gridCol w="2964180">
                  <a:extLst>
                    <a:ext uri="{9D8B030D-6E8A-4147-A177-3AD203B41FA5}">
                      <a16:colId xmlns:a16="http://schemas.microsoft.com/office/drawing/2014/main" val="1742996480"/>
                    </a:ext>
                  </a:extLst>
                </a:gridCol>
                <a:gridCol w="2964180">
                  <a:extLst>
                    <a:ext uri="{9D8B030D-6E8A-4147-A177-3AD203B41FA5}">
                      <a16:colId xmlns:a16="http://schemas.microsoft.com/office/drawing/2014/main" val="2130447945"/>
                    </a:ext>
                  </a:extLst>
                </a:gridCol>
                <a:gridCol w="2964180">
                  <a:extLst>
                    <a:ext uri="{9D8B030D-6E8A-4147-A177-3AD203B41FA5}">
                      <a16:colId xmlns:a16="http://schemas.microsoft.com/office/drawing/2014/main" val="2845447803"/>
                    </a:ext>
                  </a:extLst>
                </a:gridCol>
                <a:gridCol w="4011930">
                  <a:extLst>
                    <a:ext uri="{9D8B030D-6E8A-4147-A177-3AD203B41FA5}">
                      <a16:colId xmlns:a16="http://schemas.microsoft.com/office/drawing/2014/main" val="207310065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Concept / Feature</a:t>
                      </a:r>
                    </a:p>
                  </a:txBody>
                  <a:tcPr marL="32232" marR="32232" marT="16116" marB="16116" anchor="ctr">
                    <a:solidFill>
                      <a:srgbClr val="B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Baseline</a:t>
                      </a:r>
                    </a:p>
                  </a:txBody>
                  <a:tcPr marL="32232" marR="32232" marT="16116" marB="16116" anchor="ctr">
                    <a:solidFill>
                      <a:srgbClr val="B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4-Stage Pipeline</a:t>
                      </a:r>
                    </a:p>
                  </a:txBody>
                  <a:tcPr marL="32232" marR="32232" marT="16116" marB="16116" anchor="ctr">
                    <a:solidFill>
                      <a:srgbClr val="B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5-Stage DLMS</a:t>
                      </a:r>
                    </a:p>
                  </a:txBody>
                  <a:tcPr marL="32232" marR="32232" marT="16116" marB="16116" anchor="ctr">
                    <a:solidFill>
                      <a:srgbClr val="B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Latest Optimized 4-Stage</a:t>
                      </a:r>
                    </a:p>
                  </a:txBody>
                  <a:tcPr marL="32232" marR="32232" marT="16116" marB="16116" anchor="ctr">
                    <a:solidFill>
                      <a:srgbClr val="B0AE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761264"/>
                  </a:ext>
                </a:extLst>
              </a:tr>
              <a:tr h="843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Structure</a:t>
                      </a:r>
                      <a:endParaRPr lang="en-US" sz="1600" dirty="0"/>
                    </a:p>
                  </a:txBody>
                  <a:tcPr marL="32232" marR="32232" marT="16116" marB="16116" anchor="ctr">
                    <a:solidFill>
                      <a:srgbClr val="B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4-tap LMS + embedded FIR; single combinational module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4-stage pipeline; FIR decoupled; AXI4-Stream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5-stage ultra-pipelined; Stage-4 split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4-stage pipeline; Stage-3 multiply optimized; AXI4-Stream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607972044"/>
                  </a:ext>
                </a:extLst>
              </a:tr>
              <a:tr h="843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Algorithm</a:t>
                      </a:r>
                      <a:endParaRPr lang="en-US" sz="1600" dirty="0"/>
                    </a:p>
                  </a:txBody>
                  <a:tcPr marL="32232" marR="32232" marT="16116" marB="16116" anchor="ctr">
                    <a:solidFill>
                      <a:srgbClr val="B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Standard LMS, D=0; 4 taps updated in parallel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Standard LMS, D=0; error pre-computed externally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Standard LMS, D=1 due to pipeline delay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Standard LMS, D=0; bubble cycles masked; algorithm restored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890688329"/>
                  </a:ext>
                </a:extLst>
              </a:tr>
              <a:tr h="1008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Precision</a:t>
                      </a:r>
                      <a:endParaRPr lang="en-US" sz="1600" dirty="0"/>
                    </a:p>
                  </a:txBody>
                  <a:tcPr marL="32232" marR="32232" marT="16116" marB="16116" anchor="ctr">
                    <a:solidFill>
                      <a:srgbClr val="B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Q4.12; 16-bit weights; no 48-bit accumulator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Q1.15; 48-bit accumulator; truncation &lt; 2⁻¹⁷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Q1.15; 48-bit accumulator preserved; one-cycle delay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Q1.15; 48-bit accumulator; Stage-3 sign-extension optimization; truncation &lt; 2⁻¹⁷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3000622646"/>
                  </a:ext>
                </a:extLst>
              </a:tr>
              <a:tr h="678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Timing / Fmax</a:t>
                      </a:r>
                      <a:endParaRPr lang="en-US" sz="1600" dirty="0"/>
                    </a:p>
                  </a:txBody>
                  <a:tcPr marL="32232" marR="32232" marT="16116" marB="16116" anchor="ctr">
                    <a:solidFill>
                      <a:srgbClr val="B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≈ 33 MHz; WNS negative; chained DSPs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≈ 100–130 MHz; Stage-4 limits ceiling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≈ 150–200 MHz; Stage-4/5 optimized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≈ 150 MHz; Stage-4 feedback path limits Fmax; WNS positive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3647880609"/>
                  </a:ext>
                </a:extLst>
              </a:tr>
              <a:tr h="1008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Interface</a:t>
                      </a:r>
                      <a:endParaRPr lang="en-US" sz="1600" dirty="0"/>
                    </a:p>
                  </a:txBody>
                  <a:tcPr marL="32232" marR="32232" marT="16116" marB="16116" anchor="ctr">
                    <a:solidFill>
                      <a:srgbClr val="B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 AXI; γ hardcoded; no back-pressure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AXI4-Stream; μ runtime-configurable; 4-cycle latency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AXI4-Stream; μ configurable; 5-cycle latency; pipe_en prevents DMA deadlock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AXI4-Stream; </a:t>
                      </a:r>
                      <a:r>
                        <a:rPr lang="el-GR" sz="1600"/>
                        <a:t>μ </a:t>
                      </a:r>
                      <a:r>
                        <a:rPr lang="en-US" sz="1600"/>
                        <a:t>runtime via AXI-Lite; 4-cycle latency; pipe_en prevents DMA deadlock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312597272"/>
                  </a:ext>
                </a:extLst>
              </a:tr>
              <a:tr h="1008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Resources</a:t>
                      </a:r>
                      <a:endParaRPr lang="en-US" sz="1600" dirty="0"/>
                    </a:p>
                  </a:txBody>
                  <a:tcPr marL="32232" marR="32232" marT="16116" marB="16116" anchor="ctr">
                    <a:solidFill>
                      <a:srgbClr val="B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 DSP48/tap; 0 BRAM; FIR embedded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 DSP48/tap; 0 BRAM; distributed FFs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 DSP48/tap; extra FFs for Stage-4/5 registers; 0 BRAM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 DSP48/tap; Stage-4 LUTs high (~156 LUTs/tap); 0 BRAM; Stage-3 optimized saves FFs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860521769"/>
                  </a:ext>
                </a:extLst>
              </a:tr>
              <a:tr h="843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Saturation</a:t>
                      </a:r>
                      <a:endParaRPr lang="en-US" sz="1600" dirty="0"/>
                    </a:p>
                  </a:txBody>
                  <a:tcPr marL="32232" marR="32232" marT="16116" marB="16116" anchor="ctr">
                    <a:solidFill>
                      <a:srgbClr val="B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±32767; no overflow detection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±32767; overflow detection applied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±32767; 1-cycle overshoot possible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±32767; signed overflow detection; prevents internal windup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809944144"/>
                  </a:ext>
                </a:extLst>
              </a:tr>
              <a:tr h="10085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Verification</a:t>
                      </a:r>
                      <a:endParaRPr lang="en-US" sz="1600" dirty="0"/>
                    </a:p>
                  </a:txBody>
                  <a:tcPr marL="32232" marR="32232" marT="16116" marB="16116" anchor="ctr">
                    <a:solidFill>
                      <a:srgbClr val="B0AEA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Bit-exact to NumPy; reset/Q mismatch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Bit-exact NumPy; pipeline drains correctly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Bit-exact limited for D=1; pipeline verified</a:t>
                      </a:r>
                    </a:p>
                  </a:txBody>
                  <a:tcPr marL="32232" marR="32232" marT="16116" marB="1611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Bit-exact to NumPy Q1.15; deadlock-free; assumptions on pipeline should be documented</a:t>
                      </a:r>
                    </a:p>
                  </a:txBody>
                  <a:tcPr marL="32232" marR="32232" marT="16116" marB="16116" anchor="ctr"/>
                </a:tc>
                <a:extLst>
                  <a:ext uri="{0D108BD9-81ED-4DB2-BD59-A6C34878D82A}">
                    <a16:rowId xmlns:a16="http://schemas.microsoft.com/office/drawing/2014/main" val="2872105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50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"/>
          <p:cNvSpPr/>
          <p:nvPr/>
        </p:nvSpPr>
        <p:spPr>
          <a:xfrm>
            <a:off x="457200" y="731520"/>
            <a:ext cx="9144000" cy="12700"/>
          </a:xfrm>
          <a:prstGeom prst="rect">
            <a:avLst/>
          </a:prstGeom>
          <a:solidFill>
            <a:srgbClr val="B8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hankYou"/>
          <p:cNvSpPr/>
          <p:nvPr/>
        </p:nvSpPr>
        <p:spPr>
          <a:xfrm>
            <a:off x="0" y="3657600"/>
            <a:ext cx="18288000" cy="2286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6000" b="1" i="0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0" name="LeftImg_box"/>
          <p:cNvSpPr/>
          <p:nvPr/>
        </p:nvSpPr>
        <p:spPr>
          <a:xfrm>
            <a:off x="457200" y="457200"/>
            <a:ext cx="5029200" cy="9372600"/>
          </a:xfrm>
          <a:prstGeom prst="rect">
            <a:avLst/>
          </a:prstGeom>
          <a:solidFill>
            <a:srgbClr val="F5F0E8"/>
          </a:solidFill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0" name="LeftImg_label"/>
          <p:cNvSpPr/>
          <p:nvPr/>
        </p:nvSpPr>
        <p:spPr>
          <a:xfrm>
            <a:off x="457200" y="48691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6B7280"/>
                </a:solidFill>
                <a:latin typeface="Calibri Light"/>
              </a:rPr>
              <a:t>[ Image ]</a:t>
            </a:r>
          </a:p>
        </p:txBody>
      </p:sp>
      <p:sp>
        <p:nvSpPr>
          <p:cNvPr id="11" name="RightImg_box"/>
          <p:cNvSpPr/>
          <p:nvPr/>
        </p:nvSpPr>
        <p:spPr>
          <a:xfrm>
            <a:off x="12801600" y="457200"/>
            <a:ext cx="5029200" cy="9372600"/>
          </a:xfrm>
          <a:prstGeom prst="rect">
            <a:avLst/>
          </a:prstGeom>
          <a:solidFill>
            <a:srgbClr val="F5F0E8"/>
          </a:solidFill>
          <a:ln w="19050">
            <a:solidFill>
              <a:srgbClr val="6B72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1" name="RightImg_label"/>
          <p:cNvSpPr/>
          <p:nvPr/>
        </p:nvSpPr>
        <p:spPr>
          <a:xfrm>
            <a:off x="12801600" y="48691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6B7280"/>
                </a:solidFill>
                <a:latin typeface="Calibri Light"/>
              </a:rPr>
              <a:t>[ Image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1439</Words>
  <Application>Microsoft Office PowerPoint</Application>
  <PresentationFormat>Custom</PresentationFormat>
  <Paragraphs>142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LMS development stages</dc:title>
  <cp:lastModifiedBy>esraa shehata</cp:lastModifiedBy>
  <cp:revision>2</cp:revision>
  <dcterms:created xsi:type="dcterms:W3CDTF">2006-08-16T00:00:00Z</dcterms:created>
  <dcterms:modified xsi:type="dcterms:W3CDTF">2026-05-14T14:02:58Z</dcterms:modified>
  <dc:identifier>DAHJfP0j4xU</dc:identifier>
</cp:coreProperties>
</file>